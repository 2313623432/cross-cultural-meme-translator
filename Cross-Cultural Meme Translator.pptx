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Override PartName="/docProps/custom.xml" ContentType="application/vnd.openxmlformats-officedocument.custom-propertie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 Id="rId3"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Lst>
  <p:sldSz cx="12192000" cy="6858000"/>
  <p:notesSz cx="6858000" cy="9144000"/>
  <p:defaultTextStyle>
    <a:defPPr lvl="0" marR="0" rtl="0" algn="l">
      <a:lnSpc>
        <a:spcPct val="100000"/>
      </a:lnSpc>
      <a:spcBef>
        <a:spcPts val="0"/>
      </a:spcBef>
      <a:spcAft>
        <a:spcPts val="0"/>
      </a:spcAft>
    </a:defPPr>
    <a:lvl1pPr lvl="0" marR="0" rtl="0" algn="l" marL="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marL="457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marL="914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marL="1371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marL="18288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marL="22860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marL="27432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marL="32004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marL="3657600">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notesSlides/notesSlide1.xml" Type="http://schemas.openxmlformats.org/officeDocument/2006/relationships/notesSlide"/><Relationship Id="rId17" Target="notesSlides/notesSlide2.xml" Type="http://schemas.openxmlformats.org/officeDocument/2006/relationships/notesSlide"/><Relationship Id="rId18" Target="notesSlides/notesSlide3.xml" Type="http://schemas.openxmlformats.org/officeDocument/2006/relationships/notesSlide"/><Relationship Id="rId19" Target="notesSlides/notesSlide4.xml" Type="http://schemas.openxmlformats.org/officeDocument/2006/relationships/notesSlide"/><Relationship Id="rId2" Target="viewProps.xml" Type="http://schemas.openxmlformats.org/officeDocument/2006/relationships/viewProps"/><Relationship Id="rId20" Target="notesSlides/notesSlide5.xml" Type="http://schemas.openxmlformats.org/officeDocument/2006/relationships/notesSlide"/><Relationship Id="rId21" Target="notesSlides/notesSlide6.xml" Type="http://schemas.openxmlformats.org/officeDocument/2006/relationships/notesSlide"/><Relationship Id="rId22" Target="notesSlides/notesSlide7.xml" Type="http://schemas.openxmlformats.org/officeDocument/2006/relationships/notesSlide"/><Relationship Id="rId3" Target="presProps.xml" Type="http://schemas.openxmlformats.org/officeDocument/2006/relationships/presProps"/><Relationship Id="rId4" Target="slideMasters/slideMaster1.xml" Type="http://schemas.openxmlformats.org/officeDocument/2006/relationships/slideMaster"/><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Hi everyone. Today I want to show you a fun product I made. It is called Cross-Cultural Meme Translator. The idea is simple: we all use memes online, but people from different countries do not understand each other's memes. So I built a tool to fix that. Let me explain.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here is the problem. We always try to teach foreign people about our culture in a very serious way. Like, "let me tell you the 3000-year history of Mid-Autumn Festival." But honestly, even I do not want to hear that. And foreign people? They definitely do not care. I think being fun is more important than being useful. If it is not fun, no one will listen.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And this gap is everywhere. In China, if you want to say "you are so bold," you do not just say it. You send a dragon meme. Everyone gets it. In the West, it is the same. Like when you play League of Legends and people argue. The worst thing they say is "nobody likes you." But to Chinese people, that sounds really gentle, almost like flirting. We do not feel insulted at all. So the problem is not language, it is memes.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you might ask, we already have Google Translate, right? Why do we need this? Because normal translators only translate words. They give you the correct meaning, but it sounds like a textbook. No one talks like that online. For example, "the class is so boring." A normal translator says "这节课很无聊." Correct, but boring. My tool says "这课真是闹麻了." That is how real Chinese people talk on the internet. That is the difference.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here is my product. It works both ways. First, English to Chinese meme. You type normal English, and it gives you the Chinese internet slang version. Like how real Chinese people talk online. Second, Chinese to English meme. You type Chinese slang, and it gives you the English version that Western people actually use. Not the textbook translation, but the real internet vibe. So now foreign gamers can finally understand what we are saying, and we can understand them too.</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Let me show you some examples. English to Chinese: "the class is so boring" becomes "这课真是闹麻了." That is real internet slang. "The class is so good" becomes "这个课真尼玛有点意思啊啊啊." Very excited, very online. Now Chinese to English: "你行你上啊" becomes "ok boomer, you do it then." And "什么档次跟我用一样的" becomes "bro really thinks he is the main character." These are things Western people actually say online. Not textbook stuff. Thank you.</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marL="0" indent="0">
              <a:lnSpc>
                <a:spcPct val="100000"/>
              </a:lnSpc>
            </a:pPr>
            <a:r>
              <a:rPr lang="en-US" b="false" i="false" strike="noStrike" u="none" sz="1400">
                <a:solidFill>
                  <a:srgbClr val="000000"/>
                </a:solidFill>
              </a:rPr>
              <a:t>So that is my product. The vision is simple. I want Chinese people and foreign people to finally understand each other's jokes. Because being fun is the real universal language. Not textbooks, not serious history lessons. If we can laugh at the same memes, we can understand each other better. Thank you for listening. Any questions?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2" Target="../slideLayouts/slideLayout12.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默认主题">
    <p:bg>
      <p:bgPr>
        <a:solidFill>
          <a:srgbClr val="FFFFFF">
            <a:alpha val="100000"/>
          </a:srgbClr>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5748369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1.jpeg" Type="http://schemas.openxmlformats.org/officeDocument/2006/relationships/image"/><Relationship Id="rId3" Target="../media/image2.jpe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2.xml" Type="http://schemas.openxmlformats.org/officeDocument/2006/relationships/slideLayout"/><Relationship Id="rId2" Target="../media/image3.jpeg" Type="http://schemas.openxmlformats.org/officeDocument/2006/relationships/image"/><Relationship Id="rId3"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7.xml" Type="http://schemas.openxmlformats.org/officeDocument/2006/relationships/notesSlide"/><Relationship Id="rId3" Target="../media/image4.png" Type="http://schemas.openxmlformats.org/officeDocument/2006/relationships/image"/></Relationships>
</file>

<file path=ppt/slides/slide1.xml><?xml version="1.0" encoding="utf-8"?>
<p:sld xmlns:p="http://schemas.openxmlformats.org/presentationml/2006/main" xmlns:a="http://schemas.openxmlformats.org/drawingml/2006/main">
  <p:cSld>
    <p:bg>
      <p:bgPr>
        <a:solidFill>
          <a:srgbClr val="19234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A PRODUCT IDEA · 2026</a:t>
            </a:r>
            <a:endParaRPr lang="en-US" sz="1100"/>
          </a:p>
        </p:txBody>
      </p:sp>
      <p:cxnSp>
        <p:nvCxnSpPr>
          <p:cNvPr name="Connector 3" id="3"/>
          <p:cNvCxnSpPr/>
          <p:nvPr/>
        </p:nvCxnSpPr>
        <p:spPr>
          <a:xfrm rot="-28647" flipH="false" flipV="false">
            <a:off x="1016026" y="1263650"/>
            <a:ext cx="1524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778000"/>
            <a:ext cx="10160000" cy="2032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6400">
                <a:solidFill>
                  <a:srgbClr val="FFFFFF"/>
                </a:solidFill>
                <a:latin typeface="Noto Sans SC"/>
                <a:ea typeface="Noto Sans SC"/>
                <a:cs typeface="Noto Sans SC"/>
                <a:sym typeface="Noto Sans SC"/>
              </a:rPr>
              <a:t>Cross-Cultural</a:t>
            </a:r>
            <a:endParaRPr lang="en-US" sz="1100"/>
          </a:p>
          <a:p>
            <a:pPr algn="l" marL="0" indent="0">
              <a:lnSpc>
                <a:spcPct val="91666"/>
              </a:lnSpc>
            </a:pPr>
            <a:r>
              <a:rPr lang="en-US" b="true" i="false" strike="noStrike" u="none" sz="6400">
                <a:solidFill>
                  <a:srgbClr val="E66E32"/>
                </a:solidFill>
                <a:latin typeface="Noto Sans SC"/>
                <a:ea typeface="Noto Sans SC"/>
                <a:cs typeface="Noto Sans SC"/>
                <a:sym typeface="Noto Sans SC"/>
              </a:rPr>
              <a:t>Meme</a:t>
            </a:r>
            <a:r>
              <a:rPr lang="en-US" b="true" i="false" strike="noStrike" u="none" sz="6400">
                <a:solidFill>
                  <a:srgbClr val="FFFFFF"/>
                </a:solidFill>
                <a:latin typeface="Noto Sans SC"/>
                <a:ea typeface="Noto Sans SC"/>
                <a:cs typeface="Noto Sans SC"/>
                <a:sym typeface="Noto Sans SC"/>
              </a:rPr>
              <a:t> Translator</a:t>
            </a:r>
          </a:p>
        </p:txBody>
      </p:sp>
      <p:sp>
        <p:nvSpPr>
          <p:cNvPr name="AutoShape 5" id="5"/>
          <p:cNvSpPr/>
          <p:nvPr/>
        </p:nvSpPr>
        <p:spPr>
          <a:xfrm rot="0" flipH="false" flipV="false">
            <a:off x="1016000" y="4191000"/>
            <a:ext cx="7620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C8C8DC"/>
                </a:solidFill>
                <a:latin typeface="Noto Sans SC"/>
                <a:ea typeface="Noto Sans SC"/>
                <a:cs typeface="Noto Sans SC"/>
                <a:sym typeface="Noto Sans SC"/>
              </a:rPr>
              <a:t>Because "nobody likes you" sounds like flirting in Chinese.</a:t>
            </a:r>
            <a:endParaRPr lang="en-US" sz="1100"/>
          </a:p>
        </p:txBody>
      </p:sp>
      <p:sp>
        <p:nvSpPr>
          <p:cNvPr name="AutoShape 6" id="6"/>
          <p:cNvSpPr/>
          <p:nvPr/>
        </p:nvSpPr>
        <p:spPr>
          <a:xfrm rot="0" flipH="false" flipV="false">
            <a:off x="1016000" y="5969000"/>
            <a:ext cx="381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AA"/>
                </a:solidFill>
                <a:latin typeface="Noto Sans SC"/>
                <a:ea typeface="Noto Sans SC"/>
                <a:cs typeface="Noto Sans SC"/>
                <a:sym typeface="Noto Sans SC"/>
              </a:rPr>
              <a:t>PRESENTED BY YOU</a:t>
            </a:r>
            <a:endParaRPr lang="en-US" sz="1100"/>
          </a:p>
        </p:txBody>
      </p:sp>
      <p:sp>
        <p:nvSpPr>
          <p:cNvPr name="AutoShape 7" id="7"/>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AA"/>
                </a:solidFill>
                <a:latin typeface="Noto Sans SC"/>
                <a:ea typeface="Noto Sans SC"/>
                <a:cs typeface="Noto Sans SC"/>
                <a:sym typeface="Noto Sans SC"/>
              </a:rPr>
              <a:t>01 / 07</a:t>
            </a:r>
            <a:endParaRPr lang="en-US" sz="1100"/>
          </a:p>
        </p:txBody>
      </p:sp>
    </p:spTree>
  </p:cSld>
  <p:clrMapOvr>
    <a:masterClrMapping/>
  </p:clrMapOvr>
</p:sld>
</file>

<file path=ppt/slides/slide2.xml><?xml version="1.0" encoding="utf-8"?>
<p:sld xmlns:p="http://schemas.openxmlformats.org/presentationml/2006/main" xmlns:a="http://schemas.openxmlformats.org/drawingml/2006/main">
  <p:cSld>
    <p:bg>
      <p:bgPr>
        <a:solidFill>
          <a:srgbClr val="F8F5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THE PROBLEM</a:t>
            </a:r>
            <a:endParaRPr lang="en-US" sz="1100"/>
          </a:p>
        </p:txBody>
      </p:sp>
      <p:cxnSp>
        <p:nvCxnSpPr>
          <p:cNvPr name="Connector 3" id="3"/>
          <p:cNvCxnSpPr/>
          <p:nvPr/>
        </p:nvCxnSpPr>
        <p:spPr>
          <a:xfrm rot="-57290" flipH="false" flipV="false">
            <a:off x="1016053" y="1009650"/>
            <a:ext cx="762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397000"/>
            <a:ext cx="10160000" cy="1524000"/>
          </a:xfrm>
          <a:prstGeom prst="rect">
            <a:avLst/>
          </a:prstGeom>
          <a:noFill/>
          <a:ln w="12700" cmpd="sng" cap="flat">
            <a:noFill/>
            <a:prstDash val="solid"/>
            <a:round/>
          </a:ln>
        </p:spPr>
        <p:txBody>
          <a:bodyPr anchor="ctr" rtlCol="false" anchorCtr="false" vert="horz" wrap="square" lIns="0" rIns="0" tIns="0" bIns="0"/>
          <a:lstStyle/>
          <a:p>
            <a:pPr algn="l" marL="0" indent="0">
              <a:lnSpc>
                <a:spcPct val="91666"/>
              </a:lnSpc>
              <a:defRPr/>
            </a:pPr>
            <a:r>
              <a:rPr lang="en-US" b="true" i="false" strike="noStrike" u="none" sz="5600">
                <a:solidFill>
                  <a:srgbClr val="1E1E28"/>
                </a:solidFill>
                <a:latin typeface="Noto Sans SC"/>
                <a:ea typeface="Noto Sans SC"/>
                <a:cs typeface="Noto Sans SC"/>
                <a:sym typeface="Noto Sans SC"/>
              </a:rPr>
              <a:t>Fun is more</a:t>
            </a:r>
            <a:endParaRPr lang="en-US" sz="1100"/>
          </a:p>
          <a:p>
            <a:pPr algn="l" marL="0" indent="0">
              <a:lnSpc>
                <a:spcPct val="91666"/>
              </a:lnSpc>
            </a:pPr>
            <a:r>
              <a:rPr lang="en-US" b="true" i="false" strike="noStrike" u="none" sz="5600">
                <a:solidFill>
                  <a:srgbClr val="1E1E28"/>
                </a:solidFill>
                <a:latin typeface="Noto Sans SC"/>
                <a:ea typeface="Noto Sans SC"/>
                <a:cs typeface="Noto Sans SC"/>
                <a:sym typeface="Noto Sans SC"/>
              </a:rPr>
              <a:t>important than </a:t>
            </a:r>
            <a:r>
              <a:rPr lang="en-US" b="true" i="false" strike="noStrike" u="none" sz="5600">
                <a:solidFill>
                  <a:srgbClr val="E66E32"/>
                </a:solidFill>
                <a:latin typeface="Noto Sans SC"/>
                <a:ea typeface="Noto Sans SC"/>
                <a:cs typeface="Noto Sans SC"/>
                <a:sym typeface="Noto Sans SC"/>
              </a:rPr>
              <a:t>useful</a:t>
            </a:r>
            <a:r>
              <a:rPr lang="en-US" b="true" i="false" strike="noStrike" u="none" sz="5600">
                <a:solidFill>
                  <a:srgbClr val="1E1E28"/>
                </a:solidFill>
                <a:latin typeface="Noto Sans SC"/>
                <a:ea typeface="Noto Sans SC"/>
                <a:cs typeface="Noto Sans SC"/>
                <a:sym typeface="Noto Sans SC"/>
              </a:rPr>
              <a:t>.</a:t>
            </a:r>
          </a:p>
        </p:txBody>
      </p:sp>
      <p:sp>
        <p:nvSpPr>
          <p:cNvPr name="AutoShape 5" id="5"/>
          <p:cNvSpPr/>
          <p:nvPr/>
        </p:nvSpPr>
        <p:spPr>
          <a:xfrm rot="0" flipH="false" flipV="false">
            <a:off x="1016000" y="3429000"/>
            <a:ext cx="4826000" cy="1778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false" i="false" strike="noStrike" u="none" sz="1500">
                <a:solidFill>
                  <a:srgbClr val="50505A"/>
                </a:solidFill>
                <a:latin typeface="Noto Sans SC"/>
                <a:ea typeface="Noto Sans SC"/>
                <a:cs typeface="Noto Sans SC"/>
                <a:sym typeface="Noto Sans SC"/>
              </a:rPr>
              <a:t>We always do serious cultural communication. Like explaining the history of Mid-Autumn Festival.</a:t>
            </a:r>
            <a:endParaRPr lang="en-US" sz="1100"/>
          </a:p>
          <a:p>
            <a:pPr algn="l" marL="0" indent="0">
              <a:lnSpc>
                <a:spcPct val="133333"/>
              </a:lnSpc>
            </a:pPr>
            <a:r>
              <a:rPr lang="en-US" b="false" i="false" strike="noStrike" u="none" sz="1500">
                <a:solidFill>
                  <a:srgbClr val="50505A"/>
                </a:solidFill>
                <a:latin typeface="Noto Sans SC"/>
                <a:ea typeface="Noto Sans SC"/>
                <a:cs typeface="Noto Sans SC"/>
                <a:sym typeface="Noto Sans SC"/>
              </a:rPr>
              <a:t/>
            </a:r>
          </a:p>
          <a:p>
            <a:pPr algn="l" marL="0" indent="0">
              <a:lnSpc>
                <a:spcPct val="133333"/>
              </a:lnSpc>
            </a:pPr>
            <a:r>
              <a:rPr lang="en-US" b="false" i="false" strike="noStrike" u="none" sz="1500">
                <a:solidFill>
                  <a:srgbClr val="50505A"/>
                </a:solidFill>
                <a:latin typeface="Noto Sans SC"/>
                <a:ea typeface="Noto Sans SC"/>
                <a:cs typeface="Noto Sans SC"/>
                <a:sym typeface="Noto Sans SC"/>
              </a:rPr>
              <a:t>But even Chinese people do not care about that. Why would foreigners?</a:t>
            </a:r>
          </a:p>
        </p:txBody>
      </p:sp>
      <p:sp>
        <p:nvSpPr>
          <p:cNvPr name="AutoShape 6" id="6"/>
          <p:cNvSpPr/>
          <p:nvPr/>
        </p:nvSpPr>
        <p:spPr>
          <a:xfrm rot="0" flipH="false" flipV="false">
            <a:off x="6604000" y="3429000"/>
            <a:ext cx="4572000" cy="17780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6858000" y="36195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SERIOUS TALK</a:t>
            </a:r>
            <a:endParaRPr lang="en-US" sz="1100"/>
          </a:p>
        </p:txBody>
      </p:sp>
      <p:sp>
        <p:nvSpPr>
          <p:cNvPr name="AutoShape 8" id="8"/>
          <p:cNvSpPr/>
          <p:nvPr/>
        </p:nvSpPr>
        <p:spPr>
          <a:xfrm rot="0" flipH="false" flipV="false">
            <a:off x="6858000" y="40640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600">
                <a:solidFill>
                  <a:srgbClr val="FFFFFF"/>
                </a:solidFill>
                <a:latin typeface="Noto Sans SC"/>
                <a:ea typeface="Noto Sans SC"/>
                <a:cs typeface="Noto Sans SC"/>
                <a:sym typeface="Noto Sans SC"/>
              </a:rPr>
              <a:t>"The Mid-Autumn Festival dates back to the Tang Dynasty..."</a:t>
            </a:r>
            <a:endParaRPr lang="en-US" sz="1100"/>
          </a:p>
        </p:txBody>
      </p:sp>
      <p:sp>
        <p:nvSpPr>
          <p:cNvPr name="AutoShape 9" id="9"/>
          <p:cNvSpPr/>
          <p:nvPr/>
        </p:nvSpPr>
        <p:spPr>
          <a:xfrm rot="0" flipH="false" flipV="false">
            <a:off x="6858000" y="4889500"/>
            <a:ext cx="4064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9696AA"/>
                </a:solidFill>
                <a:latin typeface="Noto Sans SC"/>
                <a:ea typeface="Noto Sans SC"/>
                <a:cs typeface="Noto Sans SC"/>
                <a:sym typeface="Noto Sans SC"/>
              </a:rPr>
              <a:t>→ Everyone falls asleep</a:t>
            </a:r>
            <a:endParaRPr lang="en-US" sz="1100"/>
          </a:p>
        </p:txBody>
      </p:sp>
      <p:sp>
        <p:nvSpPr>
          <p:cNvPr name="AutoShape 10" id="10"/>
          <p:cNvSpPr/>
          <p:nvPr/>
        </p:nvSpPr>
        <p:spPr>
          <a:xfrm rot="0" flipH="false" flipV="false">
            <a:off x="1016000" y="59690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96"/>
                </a:solidFill>
                <a:latin typeface="Noto Sans SC"/>
                <a:ea typeface="Noto Sans SC"/>
                <a:cs typeface="Noto Sans SC"/>
                <a:sym typeface="Noto Sans SC"/>
              </a:rPr>
              <a:t>CROSS-CULTURAL MEME TRANSLATOR</a:t>
            </a:r>
            <a:endParaRPr lang="en-US" sz="1100"/>
          </a:p>
        </p:txBody>
      </p:sp>
      <p:sp>
        <p:nvSpPr>
          <p:cNvPr name="AutoShape 11" id="11"/>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96"/>
                </a:solidFill>
                <a:latin typeface="Noto Sans SC"/>
                <a:ea typeface="Noto Sans SC"/>
                <a:cs typeface="Noto Sans SC"/>
                <a:sym typeface="Noto Sans SC"/>
              </a:rPr>
              <a:t>02 / 07</a:t>
            </a:r>
            <a:endParaRPr lang="en-US" sz="1100"/>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19234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THE CULTURE GAP</a:t>
            </a:r>
            <a:endParaRPr lang="en-US" sz="1100"/>
          </a:p>
        </p:txBody>
      </p:sp>
      <p:cxnSp>
        <p:nvCxnSpPr>
          <p:cNvPr name="Connector 3" id="3"/>
          <p:cNvCxnSpPr/>
          <p:nvPr/>
        </p:nvCxnSpPr>
        <p:spPr>
          <a:xfrm rot="-57290" flipH="false" flipV="false">
            <a:off x="1016053" y="1009650"/>
            <a:ext cx="762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270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600">
                <a:solidFill>
                  <a:srgbClr val="FFFFFF"/>
                </a:solidFill>
                <a:latin typeface="Noto Sans SC"/>
                <a:ea typeface="Noto Sans SC"/>
                <a:cs typeface="Noto Sans SC"/>
                <a:sym typeface="Noto Sans SC"/>
              </a:rPr>
              <a:t>Same feeling, totally different words</a:t>
            </a:r>
            <a:endParaRPr lang="en-US" sz="1100"/>
          </a:p>
        </p:txBody>
      </p:sp>
      <p:sp>
        <p:nvSpPr>
          <p:cNvPr name="AutoShape 5" id="5"/>
          <p:cNvSpPr/>
          <p:nvPr/>
        </p:nvSpPr>
        <p:spPr>
          <a:xfrm rot="0" flipH="false" flipV="false">
            <a:off x="1016000" y="2159000"/>
            <a:ext cx="482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IN CHINA</a:t>
            </a:r>
            <a:endParaRPr lang="en-US" sz="1100"/>
          </a:p>
        </p:txBody>
      </p:sp>
      <p:pic>
        <p:nvPicPr>
          <p:cNvPr name="Picture 6" id="6"/>
          <p:cNvPicPr>
            <a:picLocks noChangeAspect="true"/>
          </p:cNvPicPr>
          <p:nvPr/>
        </p:nvPicPr>
        <p:blipFill>
          <a:blip r:embed="rId2"/>
          <a:srcRect l="0" r="0" t="0" b="0"/>
          <a:stretch>
            <a:fillRect/>
          </a:stretch>
        </p:blipFill>
        <p:spPr>
          <a:xfrm rot="0" flipH="false" flipV="false">
            <a:off x="1016000" y="2603500"/>
            <a:ext cx="2032000" cy="2032000"/>
          </a:xfrm>
          <a:prstGeom prst="roundRect">
            <a:avLst>
              <a:gd name="adj" fmla="val 5000"/>
            </a:avLst>
          </a:prstGeom>
          <a:noFill/>
          <a:ln w="25400" cmpd="sng" cap="flat">
            <a:noFill/>
            <a:prstDash val="solid"/>
            <a:round/>
          </a:ln>
        </p:spPr>
      </p:pic>
      <p:sp>
        <p:nvSpPr>
          <p:cNvPr name="AutoShape 7" id="7"/>
          <p:cNvSpPr/>
          <p:nvPr/>
        </p:nvSpPr>
        <p:spPr>
          <a:xfrm rot="0" flipH="false" flipV="false">
            <a:off x="3302000" y="2667000"/>
            <a:ext cx="2540000" cy="1270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DCDCE6"/>
                </a:solidFill>
                <a:latin typeface="Noto Sans SC"/>
                <a:ea typeface="Noto Sans SC"/>
                <a:cs typeface="Noto Sans SC"/>
                <a:sym typeface="Noto Sans SC"/>
              </a:rPr>
              <a:t>Saying "you are so bold" is boring.</a:t>
            </a:r>
            <a:endParaRPr lang="en-US" sz="1100"/>
          </a:p>
          <a:p>
            <a:pPr algn="l" marL="0" indent="0">
              <a:lnSpc>
                <a:spcPct val="125000"/>
              </a:lnSpc>
            </a:pPr>
            <a:r>
              <a:rPr lang="en-US" b="false" i="false" strike="noStrike" u="none" sz="1400">
                <a:solidFill>
                  <a:srgbClr val="DCDCE6"/>
                </a:solidFill>
                <a:latin typeface="Noto Sans SC"/>
                <a:ea typeface="Noto Sans SC"/>
                <a:cs typeface="Noto Sans SC"/>
                <a:sym typeface="Noto Sans SC"/>
              </a:rPr>
              <a:t/>
            </a:r>
          </a:p>
          <a:p>
            <a:pPr algn="l" marL="0" indent="0">
              <a:lnSpc>
                <a:spcPct val="125000"/>
              </a:lnSpc>
            </a:pPr>
            <a:r>
              <a:rPr lang="en-US" b="false" i="false" strike="noStrike" u="none" sz="1400">
                <a:solidFill>
                  <a:srgbClr val="DCDCE6"/>
                </a:solidFill>
                <a:latin typeface="Noto Sans SC"/>
                <a:ea typeface="Noto Sans SC"/>
                <a:cs typeface="Noto Sans SC"/>
                <a:sym typeface="Noto Sans SC"/>
              </a:rPr>
              <a:t>Sending a dragon meme says it all.</a:t>
            </a:r>
          </a:p>
        </p:txBody>
      </p:sp>
      <p:sp>
        <p:nvSpPr>
          <p:cNvPr name="AutoShape 8" id="8"/>
          <p:cNvSpPr/>
          <p:nvPr/>
        </p:nvSpPr>
        <p:spPr>
          <a:xfrm rot="0" flipH="false" flipV="false">
            <a:off x="6350000" y="2159000"/>
            <a:ext cx="4826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IN THE WEST</a:t>
            </a:r>
            <a:endParaRPr lang="en-US" sz="1100"/>
          </a:p>
        </p:txBody>
      </p:sp>
      <p:pic>
        <p:nvPicPr>
          <p:cNvPr name="Picture 9" id="9"/>
          <p:cNvPicPr>
            <a:picLocks noChangeAspect="true"/>
          </p:cNvPicPr>
          <p:nvPr/>
        </p:nvPicPr>
        <p:blipFill>
          <a:blip r:embed="rId3"/>
          <a:srcRect l="0" r="0" t="12573" b="12573"/>
          <a:stretch>
            <a:fillRect/>
          </a:stretch>
        </p:blipFill>
        <p:spPr>
          <a:xfrm rot="0" flipH="false" flipV="false">
            <a:off x="6350000" y="2603500"/>
            <a:ext cx="4826000" cy="2032000"/>
          </a:xfrm>
          <a:prstGeom prst="roundRect">
            <a:avLst>
              <a:gd name="adj" fmla="val 5000"/>
            </a:avLst>
          </a:prstGeom>
          <a:noFill/>
          <a:ln w="25400" cmpd="sng" cap="flat">
            <a:noFill/>
            <a:prstDash val="solid"/>
            <a:round/>
          </a:ln>
        </p:spPr>
      </p:pic>
      <p:sp>
        <p:nvSpPr>
          <p:cNvPr name="AutoShape 10" id="10"/>
          <p:cNvSpPr/>
          <p:nvPr/>
        </p:nvSpPr>
        <p:spPr>
          <a:xfrm rot="0" flipH="false" flipV="false">
            <a:off x="1016000" y="4953000"/>
            <a:ext cx="1016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600">
                <a:solidFill>
                  <a:srgbClr val="C8C8DC"/>
                </a:solidFill>
                <a:latin typeface="Noto Sans SC"/>
                <a:ea typeface="Noto Sans SC"/>
                <a:cs typeface="Noto Sans SC"/>
                <a:sym typeface="Noto Sans SC"/>
              </a:rPr>
              <a:t>Their worst insult is "nobody likes you." In Chinese culture, that sounds like </a:t>
            </a:r>
            <a:r>
              <a:rPr lang="en-US" b="true" i="false" strike="noStrike" u="none" sz="1600">
                <a:solidFill>
                  <a:srgbClr val="E66E32"/>
                </a:solidFill>
                <a:latin typeface="Noto Sans SC"/>
                <a:ea typeface="Noto Sans SC"/>
                <a:cs typeface="Noto Sans SC"/>
                <a:sym typeface="Noto Sans SC"/>
              </a:rPr>
              <a:t>flirting</a:t>
            </a:r>
            <a:r>
              <a:rPr lang="en-US" b="false" i="false" strike="noStrike" u="none" sz="1600">
                <a:solidFill>
                  <a:srgbClr val="C8C8DC"/>
                </a:solidFill>
                <a:latin typeface="Noto Sans SC"/>
                <a:ea typeface="Noto Sans SC"/>
                <a:cs typeface="Noto Sans SC"/>
                <a:sym typeface="Noto Sans SC"/>
              </a:rPr>
              <a:t>.</a:t>
            </a:r>
            <a:endParaRPr lang="en-US" sz="1100"/>
          </a:p>
        </p:txBody>
      </p:sp>
      <p:sp>
        <p:nvSpPr>
          <p:cNvPr name="AutoShape 11" id="11"/>
          <p:cNvSpPr/>
          <p:nvPr/>
        </p:nvSpPr>
        <p:spPr>
          <a:xfrm rot="0" flipH="false" flipV="false">
            <a:off x="1016000" y="59690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AA"/>
                </a:solidFill>
                <a:latin typeface="Noto Sans SC"/>
                <a:ea typeface="Noto Sans SC"/>
                <a:cs typeface="Noto Sans SC"/>
                <a:sym typeface="Noto Sans SC"/>
              </a:rPr>
              <a:t>CROSS-CULTURAL MEME TRANSLATOR</a:t>
            </a:r>
            <a:endParaRPr lang="en-US" sz="1100"/>
          </a:p>
        </p:txBody>
      </p:sp>
      <p:sp>
        <p:nvSpPr>
          <p:cNvPr name="AutoShape 12" id="12"/>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AA"/>
                </a:solidFill>
                <a:latin typeface="Noto Sans SC"/>
                <a:ea typeface="Noto Sans SC"/>
                <a:cs typeface="Noto Sans SC"/>
                <a:sym typeface="Noto Sans SC"/>
              </a:rPr>
              <a:t>03 / 07</a:t>
            </a:r>
            <a:endParaRPr lang="en-US" sz="1100"/>
          </a:p>
        </p:txBody>
      </p:sp>
    </p:spTree>
  </p:cSld>
  <p:clrMapOvr>
    <a:masterClrMapping/>
  </p:clrMapOvr>
</p:sld>
</file>

<file path=ppt/slides/slide4.xml><?xml version="1.0" encoding="utf-8"?>
<p:sld xmlns:p="http://schemas.openxmlformats.org/presentationml/2006/main" xmlns:a="http://schemas.openxmlformats.org/drawingml/2006/main">
  <p:cSld>
    <p:bg>
      <p:bgPr>
        <a:solidFill>
          <a:srgbClr val="F8F5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WHY IT FAILS</a:t>
            </a:r>
            <a:endParaRPr lang="en-US" sz="1100"/>
          </a:p>
        </p:txBody>
      </p:sp>
      <p:cxnSp>
        <p:nvCxnSpPr>
          <p:cNvPr name="Connector 3" id="3"/>
          <p:cNvCxnSpPr/>
          <p:nvPr/>
        </p:nvCxnSpPr>
        <p:spPr>
          <a:xfrm rot="-57290" flipH="false" flipV="false">
            <a:off x="1016053" y="1009650"/>
            <a:ext cx="762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270000"/>
            <a:ext cx="10668000" cy="635000"/>
          </a:xfrm>
          <a:prstGeom prst="rect">
            <a:avLst/>
          </a:prstGeom>
          <a:noFill/>
          <a:ln w="12700" cmpd="sng" cap="flat">
            <a:noFill/>
            <a:prstDash val="solid"/>
            <a:round/>
          </a:ln>
        </p:spPr>
        <p:txBody>
          <a:bodyPr anchor="ctr" rtlCol="false" anchorCtr="false" vert="horz" wrap="none" lIns="0" rIns="0" tIns="0" bIns="0"/>
          <a:lstStyle/>
          <a:p>
            <a:pPr algn="l" marL="0" indent="0">
              <a:lnSpc>
                <a:spcPct val="125000"/>
              </a:lnSpc>
              <a:defRPr/>
            </a:pPr>
            <a:r>
              <a:rPr lang="en-US" b="true" i="false" strike="noStrike" u="none" sz="3400">
                <a:solidFill>
                  <a:srgbClr val="1E1E28"/>
                </a:solidFill>
                <a:latin typeface="Noto Sans SC"/>
                <a:ea typeface="Noto Sans SC"/>
                <a:cs typeface="Noto Sans SC"/>
                <a:sym typeface="Noto Sans SC"/>
              </a:rPr>
              <a:t>Translation apps translate words, not </a:t>
            </a:r>
            <a:r>
              <a:rPr lang="en-US" b="true" i="false" strike="noStrike" u="none" sz="3400">
                <a:solidFill>
                  <a:srgbClr val="E66E32"/>
                </a:solidFill>
                <a:latin typeface="Noto Sans SC"/>
                <a:ea typeface="Noto Sans SC"/>
                <a:cs typeface="Noto Sans SC"/>
                <a:sym typeface="Noto Sans SC"/>
              </a:rPr>
              <a:t>vibes</a:t>
            </a:r>
            <a:endParaRPr lang="en-US" sz="1100"/>
          </a:p>
        </p:txBody>
      </p:sp>
      <p:sp>
        <p:nvSpPr>
          <p:cNvPr name="AutoShape 5" id="5"/>
          <p:cNvSpPr/>
          <p:nvPr/>
        </p:nvSpPr>
        <p:spPr>
          <a:xfrm rot="0" flipH="false" flipV="false">
            <a:off x="1016000" y="2222500"/>
            <a:ext cx="457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787882"/>
                </a:solidFill>
                <a:latin typeface="Noto Sans SC"/>
                <a:ea typeface="Noto Sans SC"/>
                <a:cs typeface="Noto Sans SC"/>
                <a:sym typeface="Noto Sans SC"/>
              </a:rPr>
              <a:t>NORMAL TRANSLATOR</a:t>
            </a:r>
            <a:endParaRPr lang="en-US" sz="1100"/>
          </a:p>
        </p:txBody>
      </p:sp>
      <p:sp>
        <p:nvSpPr>
          <p:cNvPr name="AutoShape 6" id="6"/>
          <p:cNvSpPr/>
          <p:nvPr/>
        </p:nvSpPr>
        <p:spPr>
          <a:xfrm rot="0" flipH="false" flipV="false">
            <a:off x="1016000" y="2667000"/>
            <a:ext cx="4572000" cy="2286000"/>
          </a:xfrm>
          <a:prstGeom prst="roundRect">
            <a:avLst>
              <a:gd name="adj" fmla="val 0"/>
            </a:avLst>
          </a:prstGeom>
          <a:solidFill>
            <a:srgbClr val="FFFFFF">
              <a:alpha val="100000"/>
            </a:srgbClr>
          </a:solidFill>
          <a:ln w="12700" cmpd="sng" cap="flat">
            <a:solidFill>
              <a:srgbClr val="C8C8C8">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70000" y="29210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969696"/>
                </a:solidFill>
                <a:latin typeface="Noto Sans SC"/>
                <a:ea typeface="Noto Sans SC"/>
                <a:cs typeface="Noto Sans SC"/>
                <a:sym typeface="Noto Sans SC"/>
              </a:rPr>
              <a:t>Input: "the class is so boring"</a:t>
            </a:r>
            <a:endParaRPr lang="en-US" sz="1100"/>
          </a:p>
        </p:txBody>
      </p:sp>
      <p:cxnSp>
        <p:nvCxnSpPr>
          <p:cNvPr name="Connector 8" id="8"/>
          <p:cNvCxnSpPr/>
          <p:nvPr/>
        </p:nvCxnSpPr>
        <p:spPr>
          <a:xfrm rot="-10742" flipH="false" flipV="false">
            <a:off x="1270010" y="3422650"/>
            <a:ext cx="4064000" cy="12700"/>
          </a:xfrm>
          <a:prstGeom prst="straightConnector1">
            <a:avLst/>
          </a:prstGeom>
          <a:solidFill>
            <a:srgbClr val="DEE0E3">
              <a:alpha val="100000"/>
            </a:srgbClr>
          </a:solidFill>
          <a:ln w="12700" cmpd="sng" cap="flat">
            <a:solidFill>
              <a:srgbClr val="DCDCDC">
                <a:alpha val="100000"/>
              </a:srgbClr>
            </a:solidFill>
            <a:prstDash val="solid"/>
            <a:round/>
            <a:headEnd type="none" w="med" len="med"/>
            <a:tailEnd type="none" w="med" len="med"/>
          </a:ln>
        </p:spPr>
      </p:cxnSp>
      <p:sp>
        <p:nvSpPr>
          <p:cNvPr name="AutoShape 9" id="9"/>
          <p:cNvSpPr/>
          <p:nvPr/>
        </p:nvSpPr>
        <p:spPr>
          <a:xfrm rot="0" flipH="false" flipV="false">
            <a:off x="1270000" y="36830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1800">
                <a:solidFill>
                  <a:srgbClr val="1E1E28"/>
                </a:solidFill>
                <a:latin typeface="Noto Sans SC"/>
                <a:ea typeface="Noto Sans SC"/>
                <a:cs typeface="Noto Sans SC"/>
                <a:sym typeface="Noto Sans SC"/>
              </a:rPr>
              <a:t>"这节课很无聊"</a:t>
            </a:r>
            <a:endParaRPr lang="en-US" sz="1100"/>
          </a:p>
        </p:txBody>
      </p:sp>
      <p:sp>
        <p:nvSpPr>
          <p:cNvPr name="AutoShape 10" id="10"/>
          <p:cNvSpPr/>
          <p:nvPr/>
        </p:nvSpPr>
        <p:spPr>
          <a:xfrm rot="0" flipH="false" flipV="false">
            <a:off x="1270000" y="4508500"/>
            <a:ext cx="4064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B4B4B4"/>
                </a:solidFill>
                <a:latin typeface="Noto Sans SC"/>
                <a:ea typeface="Noto Sans SC"/>
                <a:cs typeface="Noto Sans SC"/>
                <a:sym typeface="Noto Sans SC"/>
              </a:rPr>
              <a:t>Correct. But boring. Nobody talks like this.</a:t>
            </a:r>
            <a:endParaRPr lang="en-US" sz="1100"/>
          </a:p>
        </p:txBody>
      </p:sp>
      <p:sp>
        <p:nvSpPr>
          <p:cNvPr name="AutoShape 11" id="11"/>
          <p:cNvSpPr/>
          <p:nvPr/>
        </p:nvSpPr>
        <p:spPr>
          <a:xfrm rot="0" flipH="false" flipV="false">
            <a:off x="6604000" y="2222500"/>
            <a:ext cx="4572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MEME TRANSLATOR</a:t>
            </a:r>
            <a:endParaRPr lang="en-US" sz="1100"/>
          </a:p>
        </p:txBody>
      </p:sp>
      <p:sp>
        <p:nvSpPr>
          <p:cNvPr name="AutoShape 12" id="12"/>
          <p:cNvSpPr/>
          <p:nvPr/>
        </p:nvSpPr>
        <p:spPr>
          <a:xfrm rot="0" flipH="false" flipV="false">
            <a:off x="6604000" y="2667000"/>
            <a:ext cx="4572000" cy="22860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6858000" y="2921000"/>
            <a:ext cx="4064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9696AA"/>
                </a:solidFill>
                <a:latin typeface="Noto Sans SC"/>
                <a:ea typeface="Noto Sans SC"/>
                <a:cs typeface="Noto Sans SC"/>
                <a:sym typeface="Noto Sans SC"/>
              </a:rPr>
              <a:t>Input: "the class is so boring"</a:t>
            </a:r>
            <a:endParaRPr lang="en-US" sz="1100"/>
          </a:p>
        </p:txBody>
      </p:sp>
      <p:cxnSp>
        <p:nvCxnSpPr>
          <p:cNvPr name="Connector 14" id="14"/>
          <p:cNvCxnSpPr/>
          <p:nvPr/>
        </p:nvCxnSpPr>
        <p:spPr>
          <a:xfrm rot="-10742" flipH="false" flipV="false">
            <a:off x="6858010" y="3422650"/>
            <a:ext cx="4064000" cy="12700"/>
          </a:xfrm>
          <a:prstGeom prst="straightConnector1">
            <a:avLst/>
          </a:prstGeom>
          <a:solidFill>
            <a:srgbClr val="DEE0E3">
              <a:alpha val="100000"/>
            </a:srgbClr>
          </a:solidFill>
          <a:ln w="12700" cmpd="sng" cap="flat">
            <a:solidFill>
              <a:srgbClr val="50506E">
                <a:alpha val="100000"/>
              </a:srgbClr>
            </a:solidFill>
            <a:prstDash val="solid"/>
            <a:round/>
            <a:headEnd type="none" w="med" len="med"/>
            <a:tailEnd type="none" w="med" len="med"/>
          </a:ln>
        </p:spPr>
      </p:cxnSp>
      <p:sp>
        <p:nvSpPr>
          <p:cNvPr name="AutoShape 15" id="15"/>
          <p:cNvSpPr/>
          <p:nvPr/>
        </p:nvSpPr>
        <p:spPr>
          <a:xfrm rot="0" flipH="false" flipV="false">
            <a:off x="6858000" y="3683000"/>
            <a:ext cx="4064000" cy="762000"/>
          </a:xfrm>
          <a:prstGeom prst="rect">
            <a:avLst/>
          </a:prstGeom>
          <a:noFill/>
          <a:ln w="12700" cmpd="sng" cap="flat">
            <a:noFill/>
            <a:prstDash val="solid"/>
            <a:round/>
          </a:ln>
        </p:spPr>
        <p:txBody>
          <a:bodyPr anchor="ctr" rtlCol="false" anchorCtr="false" vert="horz" wrap="square" lIns="0" rIns="0" tIns="0" bIns="0"/>
          <a:lstStyle/>
          <a:p>
            <a:pPr algn="l" marL="0" indent="0">
              <a:lnSpc>
                <a:spcPct val="116666"/>
              </a:lnSpc>
              <a:defRPr/>
            </a:pPr>
            <a:r>
              <a:rPr lang="en-US" b="false" i="false" strike="noStrike" u="none" sz="2000">
                <a:solidFill>
                  <a:srgbClr val="FFFFFF"/>
                </a:solidFill>
                <a:latin typeface="Noto Sans SC"/>
                <a:ea typeface="Noto Sans SC"/>
                <a:cs typeface="Noto Sans SC"/>
                <a:sym typeface="Noto Sans SC"/>
              </a:rPr>
              <a:t>"这课真是闹麻了"</a:t>
            </a:r>
            <a:endParaRPr lang="en-US" sz="1100"/>
          </a:p>
        </p:txBody>
      </p:sp>
      <p:sp>
        <p:nvSpPr>
          <p:cNvPr name="AutoShape 16" id="16"/>
          <p:cNvSpPr/>
          <p:nvPr/>
        </p:nvSpPr>
        <p:spPr>
          <a:xfrm rot="0" flipH="false" flipV="false">
            <a:off x="6858000" y="4508500"/>
            <a:ext cx="4064000" cy="317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Now that is how people actually talk online.</a:t>
            </a:r>
            <a:endParaRPr lang="en-US" sz="1100"/>
          </a:p>
        </p:txBody>
      </p:sp>
      <p:sp>
        <p:nvSpPr>
          <p:cNvPr name="AutoShape 17" id="17"/>
          <p:cNvSpPr/>
          <p:nvPr/>
        </p:nvSpPr>
        <p:spPr>
          <a:xfrm rot="0" flipH="false" flipV="false">
            <a:off x="1016000" y="59690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96"/>
                </a:solidFill>
                <a:latin typeface="Noto Sans SC"/>
                <a:ea typeface="Noto Sans SC"/>
                <a:cs typeface="Noto Sans SC"/>
                <a:sym typeface="Noto Sans SC"/>
              </a:rPr>
              <a:t>CROSS-CULTURAL MEME TRANSLATOR</a:t>
            </a:r>
            <a:endParaRPr lang="en-US" sz="1100"/>
          </a:p>
        </p:txBody>
      </p:sp>
      <p:sp>
        <p:nvSpPr>
          <p:cNvPr name="AutoShape 18" id="18"/>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96"/>
                </a:solidFill>
                <a:latin typeface="Noto Sans SC"/>
                <a:ea typeface="Noto Sans SC"/>
                <a:cs typeface="Noto Sans SC"/>
                <a:sym typeface="Noto Sans SC"/>
              </a:rPr>
              <a:t>04 / 07</a:t>
            </a:r>
            <a:endParaRPr lang="en-US" sz="1100"/>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19234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THE PRODUCT</a:t>
            </a:r>
            <a:endParaRPr lang="en-US" sz="1100"/>
          </a:p>
        </p:txBody>
      </p:sp>
      <p:cxnSp>
        <p:nvCxnSpPr>
          <p:cNvPr name="Connector 3" id="3"/>
          <p:cNvCxnSpPr/>
          <p:nvPr/>
        </p:nvCxnSpPr>
        <p:spPr>
          <a:xfrm rot="-57290" flipH="false" flipV="false">
            <a:off x="1016053" y="1009650"/>
            <a:ext cx="762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270000"/>
            <a:ext cx="7112000" cy="1270000"/>
          </a:xfrm>
          <a:prstGeom prst="rect">
            <a:avLst/>
          </a:prstGeom>
          <a:noFill/>
          <a:ln w="12700" cmpd="sng" cap="flat">
            <a:noFill/>
            <a:prstDash val="solid"/>
            <a:round/>
          </a:ln>
        </p:spPr>
        <p:txBody>
          <a:bodyPr anchor="ctr" rtlCol="false" anchorCtr="false" vert="horz" wrap="none" lIns="0" rIns="0" tIns="0" bIns="0"/>
          <a:lstStyle/>
          <a:p>
            <a:pPr algn="l" marL="0" indent="0">
              <a:lnSpc>
                <a:spcPct val="95833"/>
              </a:lnSpc>
              <a:defRPr/>
            </a:pPr>
            <a:r>
              <a:rPr lang="en-US" b="true" i="false" strike="noStrike" u="none" sz="4400">
                <a:solidFill>
                  <a:srgbClr val="FFFFFF"/>
                </a:solidFill>
                <a:latin typeface="Noto Sans SC"/>
                <a:ea typeface="Noto Sans SC"/>
                <a:cs typeface="Noto Sans SC"/>
                <a:sym typeface="Noto Sans SC"/>
              </a:rPr>
              <a:t>It works both ways.</a:t>
            </a:r>
            <a:endParaRPr lang="en-US" sz="1100"/>
          </a:p>
        </p:txBody>
      </p:sp>
      <p:sp>
        <p:nvSpPr>
          <p:cNvPr name="AutoShape 5" id="5"/>
          <p:cNvSpPr/>
          <p:nvPr/>
        </p:nvSpPr>
        <p:spPr>
          <a:xfrm rot="0" flipH="false" flipV="false">
            <a:off x="1016000" y="2667000"/>
            <a:ext cx="5588000" cy="165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33333"/>
              </a:lnSpc>
              <a:defRPr/>
            </a:pPr>
            <a:r>
              <a:rPr lang="en-US" b="true" i="false" strike="noStrike" u="none" sz="1600">
                <a:solidFill>
                  <a:srgbClr val="E66E32"/>
                </a:solidFill>
                <a:latin typeface="Noto Sans SC"/>
                <a:ea typeface="Noto Sans SC"/>
                <a:cs typeface="Noto Sans SC"/>
                <a:sym typeface="Noto Sans SC"/>
              </a:rPr>
              <a:t>English → Chinese meme:</a:t>
            </a:r>
            <a:r>
              <a:rPr lang="en-US" b="false" i="false" strike="noStrike" u="none" sz="1600">
                <a:solidFill>
                  <a:srgbClr val="C8C8DC"/>
                </a:solidFill>
                <a:latin typeface="Noto Sans SC"/>
                <a:ea typeface="Noto Sans SC"/>
                <a:cs typeface="Noto Sans SC"/>
                <a:sym typeface="Noto Sans SC"/>
              </a:rPr>
              <a:t> Type normal English, get the way Chinese people actually say it online.</a:t>
            </a:r>
            <a:endParaRPr lang="en-US" sz="1100"/>
          </a:p>
          <a:p>
            <a:pPr algn="l" marL="0" indent="0">
              <a:lnSpc>
                <a:spcPct val="133333"/>
              </a:lnSpc>
            </a:pPr>
            <a:r>
              <a:rPr lang="en-US" b="false" i="false" strike="noStrike" u="none" sz="1600">
                <a:solidFill>
                  <a:srgbClr val="C8C8DC"/>
                </a:solidFill>
                <a:latin typeface="Noto Sans SC"/>
                <a:ea typeface="Noto Sans SC"/>
                <a:cs typeface="Noto Sans SC"/>
                <a:sym typeface="Noto Sans SC"/>
              </a:rPr>
              <a:t/>
            </a:r>
          </a:p>
          <a:p>
            <a:pPr algn="l" marL="0" indent="0">
              <a:lnSpc>
                <a:spcPct val="133333"/>
              </a:lnSpc>
            </a:pPr>
            <a:r>
              <a:rPr lang="en-US" b="true" i="false" strike="noStrike" u="none" sz="1600">
                <a:solidFill>
                  <a:srgbClr val="E66E32"/>
                </a:solidFill>
                <a:latin typeface="Noto Sans SC"/>
                <a:ea typeface="Noto Sans SC"/>
                <a:cs typeface="Noto Sans SC"/>
                <a:sym typeface="Noto Sans SC"/>
              </a:rPr>
              <a:t>Chinese → English meme:</a:t>
            </a:r>
            <a:r>
              <a:rPr lang="en-US" b="false" i="false" strike="noStrike" u="none" sz="1600">
                <a:solidFill>
                  <a:srgbClr val="C8C8DC"/>
                </a:solidFill>
                <a:latin typeface="Noto Sans SC"/>
                <a:ea typeface="Noto Sans SC"/>
                <a:cs typeface="Noto Sans SC"/>
                <a:sym typeface="Noto Sans SC"/>
              </a:rPr>
              <a:t> Type Chinese slang, get the English version that fits Western internet culture.</a:t>
            </a:r>
          </a:p>
        </p:txBody>
      </p:sp>
      <p:sp>
        <p:nvSpPr>
          <p:cNvPr name="AutoShape 6" id="6"/>
          <p:cNvSpPr/>
          <p:nvPr/>
        </p:nvSpPr>
        <p:spPr>
          <a:xfrm rot="0" flipH="false" flipV="false">
            <a:off x="1016000" y="4572000"/>
            <a:ext cx="2286000" cy="635000"/>
          </a:xfrm>
          <a:prstGeom prst="roundRect">
            <a:avLst>
              <a:gd name="adj" fmla="val 0"/>
            </a:avLst>
          </a:prstGeom>
          <a:solidFill>
            <a:srgbClr val="E66E32">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016000" y="4572000"/>
            <a:ext cx="2286000" cy="635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true" i="false" strike="noStrike" u="none" sz="1400">
                <a:solidFill>
                  <a:srgbClr val="FFFFFF"/>
                </a:solidFill>
                <a:latin typeface="Noto Sans SC"/>
                <a:ea typeface="Noto Sans SC"/>
                <a:cs typeface="Noto Sans SC"/>
                <a:sym typeface="Noto Sans SC"/>
              </a:rPr>
              <a:t>TRY IT NOW</a:t>
            </a:r>
            <a:endParaRPr lang="en-US" sz="1100"/>
          </a:p>
        </p:txBody>
      </p:sp>
      <p:pic>
        <p:nvPicPr>
          <p:cNvPr name="Picture 8" id="8"/>
          <p:cNvPicPr>
            <a:picLocks noChangeAspect="true"/>
          </p:cNvPicPr>
          <p:nvPr/>
        </p:nvPicPr>
        <p:blipFill>
          <a:blip r:embed="rId2"/>
          <a:srcRect l="12499" r="12499" t="0" b="0"/>
          <a:stretch>
            <a:fillRect/>
          </a:stretch>
        </p:blipFill>
        <p:spPr>
          <a:xfrm rot="0" flipH="false" flipV="false">
            <a:off x="7112000" y="1524000"/>
            <a:ext cx="4064000" cy="4064000"/>
          </a:xfrm>
          <a:prstGeom prst="roundRect">
            <a:avLst>
              <a:gd name="adj" fmla="val 3750"/>
            </a:avLst>
          </a:prstGeom>
          <a:noFill/>
          <a:ln w="25400" cmpd="sng" cap="flat">
            <a:noFill/>
            <a:prstDash val="solid"/>
            <a:round/>
          </a:ln>
        </p:spPr>
      </p:pic>
      <p:sp>
        <p:nvSpPr>
          <p:cNvPr name="AutoShape 9" id="9"/>
          <p:cNvSpPr/>
          <p:nvPr/>
        </p:nvSpPr>
        <p:spPr>
          <a:xfrm rot="0" flipH="false" flipV="false">
            <a:off x="7112000" y="5715000"/>
            <a:ext cx="4064000" cy="254000"/>
          </a:xfrm>
          <a:prstGeom prst="rect">
            <a:avLst/>
          </a:prstGeom>
          <a:noFill/>
          <a:ln w="12700" cmpd="sng" cap="flat">
            <a:noFill/>
            <a:prstDash val="solid"/>
            <a:round/>
          </a:ln>
        </p:spPr>
        <p:txBody>
          <a:bodyPr anchor="ctr" rtlCol="false" anchorCtr="false" vert="horz" wrap="square" lIns="0" rIns="0" tIns="0" bIns="0"/>
          <a:lstStyle/>
          <a:p>
            <a:pPr algn="ctr" marL="0" indent="0">
              <a:lnSpc>
                <a:spcPct val="125000"/>
              </a:lnSpc>
              <a:defRPr/>
            </a:pPr>
            <a:r>
              <a:rPr lang="en-US" b="false" i="false" strike="noStrike" u="none" sz="900">
                <a:solidFill>
                  <a:srgbClr val="9696AA"/>
                </a:solidFill>
                <a:latin typeface="Noto Sans SC"/>
                <a:ea typeface="Noto Sans SC"/>
                <a:cs typeface="Noto Sans SC"/>
                <a:sym typeface="Noto Sans SC"/>
              </a:rPr>
              <a:t>UI concept · Translator interface</a:t>
            </a:r>
            <a:endParaRPr lang="en-US" sz="1100"/>
          </a:p>
        </p:txBody>
      </p:sp>
      <p:sp>
        <p:nvSpPr>
          <p:cNvPr name="AutoShape 10" id="10"/>
          <p:cNvSpPr/>
          <p:nvPr/>
        </p:nvSpPr>
        <p:spPr>
          <a:xfrm rot="0" flipH="false" flipV="false">
            <a:off x="1016000" y="59690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AA"/>
                </a:solidFill>
                <a:latin typeface="Noto Sans SC"/>
                <a:ea typeface="Noto Sans SC"/>
                <a:cs typeface="Noto Sans SC"/>
                <a:sym typeface="Noto Sans SC"/>
              </a:rPr>
              <a:t>CROSS-CULTURAL MEME TRANSLATOR</a:t>
            </a:r>
            <a:endParaRPr lang="en-US" sz="1100"/>
          </a:p>
        </p:txBody>
      </p:sp>
      <p:sp>
        <p:nvSpPr>
          <p:cNvPr name="AutoShape 11" id="11"/>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AA"/>
                </a:solidFill>
                <a:latin typeface="Noto Sans SC"/>
                <a:ea typeface="Noto Sans SC"/>
                <a:cs typeface="Noto Sans SC"/>
                <a:sym typeface="Noto Sans SC"/>
              </a:rPr>
              <a:t>05 / 07</a:t>
            </a:r>
            <a:endParaRPr lang="en-US" sz="1100"/>
          </a:p>
        </p:txBody>
      </p:sp>
    </p:spTree>
  </p:cSld>
  <p:clrMapOvr>
    <a:masterClrMapping/>
  </p:clrMapOvr>
</p:sld>
</file>

<file path=ppt/slides/slide6.xml><?xml version="1.0" encoding="utf-8"?>
<p:sld xmlns:p="http://schemas.openxmlformats.org/presentationml/2006/main" xmlns:a="http://schemas.openxmlformats.org/drawingml/2006/main">
  <p:cSld>
    <p:bg>
      <p:bgPr>
        <a:solidFill>
          <a:srgbClr val="F8F5EE">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635000"/>
            <a:ext cx="254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E66E32"/>
                </a:solidFill>
                <a:latin typeface="Noto Sans SC"/>
                <a:ea typeface="Noto Sans SC"/>
                <a:cs typeface="Noto Sans SC"/>
                <a:sym typeface="Noto Sans SC"/>
              </a:rPr>
              <a:t>LIVE DEMO</a:t>
            </a:r>
            <a:endParaRPr lang="en-US" sz="1100"/>
          </a:p>
        </p:txBody>
      </p:sp>
      <p:cxnSp>
        <p:nvCxnSpPr>
          <p:cNvPr name="Connector 3" id="3"/>
          <p:cNvCxnSpPr/>
          <p:nvPr/>
        </p:nvCxnSpPr>
        <p:spPr>
          <a:xfrm rot="-57290" flipH="false" flipV="false">
            <a:off x="1016053" y="1009650"/>
            <a:ext cx="762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206500"/>
            <a:ext cx="10160000" cy="571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3200">
                <a:solidFill>
                  <a:srgbClr val="1E1E28"/>
                </a:solidFill>
                <a:latin typeface="Noto Sans SC"/>
                <a:ea typeface="Noto Sans SC"/>
                <a:cs typeface="Noto Sans SC"/>
                <a:sym typeface="Noto Sans SC"/>
              </a:rPr>
              <a:t>See it in action</a:t>
            </a:r>
            <a:endParaRPr lang="en-US" sz="1100"/>
          </a:p>
        </p:txBody>
      </p:sp>
      <p:sp>
        <p:nvSpPr>
          <p:cNvPr name="AutoShape 5" id="5"/>
          <p:cNvSpPr/>
          <p:nvPr/>
        </p:nvSpPr>
        <p:spPr>
          <a:xfrm rot="0" flipH="false" flipV="false">
            <a:off x="1016000" y="1968500"/>
            <a:ext cx="457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000">
                <a:solidFill>
                  <a:srgbClr val="E66E32"/>
                </a:solidFill>
                <a:latin typeface="Noto Sans SC"/>
                <a:ea typeface="Noto Sans SC"/>
                <a:cs typeface="Noto Sans SC"/>
                <a:sym typeface="Noto Sans SC"/>
              </a:rPr>
              <a:t>ENGLISH → CHINESE MEME</a:t>
            </a:r>
            <a:endParaRPr lang="en-US" sz="1100"/>
          </a:p>
        </p:txBody>
      </p:sp>
      <p:sp>
        <p:nvSpPr>
          <p:cNvPr name="AutoShape 6" id="6"/>
          <p:cNvSpPr/>
          <p:nvPr/>
        </p:nvSpPr>
        <p:spPr>
          <a:xfrm rot="0" flipH="false" flipV="false">
            <a:off x="1016000" y="2349500"/>
            <a:ext cx="4572000" cy="698500"/>
          </a:xfrm>
          <a:prstGeom prst="roundRect">
            <a:avLst>
              <a:gd name="adj" fmla="val 0"/>
            </a:avLst>
          </a:prstGeom>
          <a:solidFill>
            <a:srgbClr val="FFFFFF">
              <a:alpha val="100000"/>
            </a:srgbClr>
          </a:solidFill>
          <a:ln w="12700" cmpd="sng" cap="flat">
            <a:solidFill>
              <a:srgbClr val="C8C8C8">
                <a:alpha val="100000"/>
              </a:srgbClr>
            </a:solidFill>
            <a:prstDash val="solid"/>
            <a:round/>
          </a:ln>
        </p:spPr>
        <p:txBody>
          <a:bodyPr anchor="ctr" rtlCol="false" vert="horz" wrap="square" lIns="63500" rIns="63500" tIns="63500" bIns="63500"/>
          <a:lstStyle/>
          <a:p>
            <a:pPr algn="ctr">
              <a:defRPr/>
            </a:pPr>
            <a:endParaRPr/>
          </a:p>
        </p:txBody>
      </p:sp>
      <p:sp>
        <p:nvSpPr>
          <p:cNvPr name="AutoShape 7" id="7"/>
          <p:cNvSpPr/>
          <p:nvPr/>
        </p:nvSpPr>
        <p:spPr>
          <a:xfrm rot="0" flipH="false" flipV="false">
            <a:off x="1206500" y="23495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4646E"/>
                </a:solidFill>
                <a:latin typeface="Noto Sans SC"/>
                <a:ea typeface="Noto Sans SC"/>
                <a:cs typeface="Noto Sans SC"/>
                <a:sym typeface="Noto Sans SC"/>
              </a:rPr>
              <a:t>"the class is so boring"</a:t>
            </a:r>
            <a:endParaRPr lang="en-US" sz="1100"/>
          </a:p>
        </p:txBody>
      </p:sp>
      <p:sp>
        <p:nvSpPr>
          <p:cNvPr name="AutoShape 8" id="8"/>
          <p:cNvSpPr/>
          <p:nvPr/>
        </p:nvSpPr>
        <p:spPr>
          <a:xfrm rot="0" flipH="false" flipV="false">
            <a:off x="1016000" y="3175000"/>
            <a:ext cx="4572000" cy="6985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9" id="9"/>
          <p:cNvSpPr/>
          <p:nvPr/>
        </p:nvSpPr>
        <p:spPr>
          <a:xfrm rot="0" flipH="false" flipV="false">
            <a:off x="1206500" y="31750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800">
                <a:solidFill>
                  <a:srgbClr val="FFFFFF"/>
                </a:solidFill>
                <a:latin typeface="Noto Sans SC"/>
                <a:ea typeface="Noto Sans SC"/>
                <a:cs typeface="Noto Sans SC"/>
                <a:sym typeface="Noto Sans SC"/>
              </a:rPr>
              <a:t>"这课真是闹麻了"</a:t>
            </a:r>
            <a:endParaRPr lang="en-US" sz="1100"/>
          </a:p>
        </p:txBody>
      </p:sp>
      <p:sp>
        <p:nvSpPr>
          <p:cNvPr name="AutoShape 10" id="10"/>
          <p:cNvSpPr/>
          <p:nvPr/>
        </p:nvSpPr>
        <p:spPr>
          <a:xfrm rot="0" flipH="false" flipV="false">
            <a:off x="1016000" y="4064000"/>
            <a:ext cx="4572000" cy="698500"/>
          </a:xfrm>
          <a:prstGeom prst="roundRect">
            <a:avLst>
              <a:gd name="adj" fmla="val 0"/>
            </a:avLst>
          </a:prstGeom>
          <a:solidFill>
            <a:srgbClr val="FFFFFF">
              <a:alpha val="100000"/>
            </a:srgbClr>
          </a:solidFill>
          <a:ln w="12700" cmpd="sng" cap="flat">
            <a:solidFill>
              <a:srgbClr val="C8C8C8">
                <a:alpha val="100000"/>
              </a:srgbClr>
            </a:solidFill>
            <a:prstDash val="solid"/>
            <a:round/>
          </a:ln>
        </p:spPr>
        <p:txBody>
          <a:bodyPr anchor="ctr" rtlCol="false" vert="horz" wrap="square" lIns="63500" rIns="63500" tIns="63500" bIns="63500"/>
          <a:lstStyle/>
          <a:p>
            <a:pPr algn="ctr">
              <a:defRPr/>
            </a:pPr>
            <a:endParaRPr/>
          </a:p>
        </p:txBody>
      </p:sp>
      <p:sp>
        <p:nvSpPr>
          <p:cNvPr name="AutoShape 11" id="11"/>
          <p:cNvSpPr/>
          <p:nvPr/>
        </p:nvSpPr>
        <p:spPr>
          <a:xfrm rot="0" flipH="false" flipV="false">
            <a:off x="1206500" y="40640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4646E"/>
                </a:solidFill>
                <a:latin typeface="Noto Sans SC"/>
                <a:ea typeface="Noto Sans SC"/>
                <a:cs typeface="Noto Sans SC"/>
                <a:sym typeface="Noto Sans SC"/>
              </a:rPr>
              <a:t>"the class is so good"</a:t>
            </a:r>
            <a:endParaRPr lang="en-US" sz="1100"/>
          </a:p>
        </p:txBody>
      </p:sp>
      <p:sp>
        <p:nvSpPr>
          <p:cNvPr name="AutoShape 12" id="12"/>
          <p:cNvSpPr/>
          <p:nvPr/>
        </p:nvSpPr>
        <p:spPr>
          <a:xfrm rot="0" flipH="false" flipV="false">
            <a:off x="1016000" y="4889500"/>
            <a:ext cx="4572000" cy="6985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3" id="13"/>
          <p:cNvSpPr/>
          <p:nvPr/>
        </p:nvSpPr>
        <p:spPr>
          <a:xfrm rot="0" flipH="false" flipV="false">
            <a:off x="1206500" y="48895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"这个课真尼玛有点意思啊啊啊"</a:t>
            </a:r>
            <a:endParaRPr lang="en-US" sz="1100"/>
          </a:p>
        </p:txBody>
      </p:sp>
      <p:sp>
        <p:nvSpPr>
          <p:cNvPr name="AutoShape 14" id="14"/>
          <p:cNvSpPr/>
          <p:nvPr/>
        </p:nvSpPr>
        <p:spPr>
          <a:xfrm rot="0" flipH="false" flipV="false">
            <a:off x="6604000" y="1968500"/>
            <a:ext cx="4572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000">
                <a:solidFill>
                  <a:srgbClr val="E66E32"/>
                </a:solidFill>
                <a:latin typeface="Noto Sans SC"/>
                <a:ea typeface="Noto Sans SC"/>
                <a:cs typeface="Noto Sans SC"/>
                <a:sym typeface="Noto Sans SC"/>
              </a:rPr>
              <a:t>CHINESE → ENGLISH MEME</a:t>
            </a:r>
            <a:endParaRPr lang="en-US" sz="1100"/>
          </a:p>
        </p:txBody>
      </p:sp>
      <p:sp>
        <p:nvSpPr>
          <p:cNvPr name="AutoShape 15" id="15"/>
          <p:cNvSpPr/>
          <p:nvPr/>
        </p:nvSpPr>
        <p:spPr>
          <a:xfrm rot="0" flipH="false" flipV="false">
            <a:off x="6604000" y="2349500"/>
            <a:ext cx="4572000" cy="698500"/>
          </a:xfrm>
          <a:prstGeom prst="roundRect">
            <a:avLst>
              <a:gd name="adj" fmla="val 0"/>
            </a:avLst>
          </a:prstGeom>
          <a:solidFill>
            <a:srgbClr val="FFFFFF">
              <a:alpha val="100000"/>
            </a:srgbClr>
          </a:solidFill>
          <a:ln w="12700" cmpd="sng" cap="flat">
            <a:solidFill>
              <a:srgbClr val="C8C8C8">
                <a:alpha val="100000"/>
              </a:srgbClr>
            </a:solidFill>
            <a:prstDash val="solid"/>
            <a:round/>
          </a:ln>
        </p:spPr>
        <p:txBody>
          <a:bodyPr anchor="ctr" rtlCol="false" vert="horz" wrap="square" lIns="63500" rIns="63500" tIns="63500" bIns="63500"/>
          <a:lstStyle/>
          <a:p>
            <a:pPr algn="ctr">
              <a:defRPr/>
            </a:pPr>
            <a:endParaRPr/>
          </a:p>
        </p:txBody>
      </p:sp>
      <p:sp>
        <p:nvSpPr>
          <p:cNvPr name="AutoShape 16" id="16"/>
          <p:cNvSpPr/>
          <p:nvPr/>
        </p:nvSpPr>
        <p:spPr>
          <a:xfrm rot="0" flipH="false" flipV="false">
            <a:off x="6794500" y="23495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4646E"/>
                </a:solidFill>
                <a:latin typeface="Noto Sans SC"/>
                <a:ea typeface="Noto Sans SC"/>
                <a:cs typeface="Noto Sans SC"/>
                <a:sym typeface="Noto Sans SC"/>
              </a:rPr>
              <a:t>"你行你上啊"</a:t>
            </a:r>
            <a:endParaRPr lang="en-US" sz="1100"/>
          </a:p>
        </p:txBody>
      </p:sp>
      <p:sp>
        <p:nvSpPr>
          <p:cNvPr name="AutoShape 17" id="17"/>
          <p:cNvSpPr/>
          <p:nvPr/>
        </p:nvSpPr>
        <p:spPr>
          <a:xfrm rot="0" flipH="false" flipV="false">
            <a:off x="6604000" y="3175000"/>
            <a:ext cx="4572000" cy="6985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18" id="18"/>
          <p:cNvSpPr/>
          <p:nvPr/>
        </p:nvSpPr>
        <p:spPr>
          <a:xfrm rot="0" flipH="false" flipV="false">
            <a:off x="6794500" y="31750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600">
                <a:solidFill>
                  <a:srgbClr val="FFFFFF"/>
                </a:solidFill>
                <a:latin typeface="Noto Sans SC"/>
                <a:ea typeface="Noto Sans SC"/>
                <a:cs typeface="Noto Sans SC"/>
                <a:sym typeface="Noto Sans SC"/>
              </a:rPr>
              <a:t>"ok boomer, you do it then"</a:t>
            </a:r>
            <a:endParaRPr lang="en-US" sz="1100"/>
          </a:p>
        </p:txBody>
      </p:sp>
      <p:sp>
        <p:nvSpPr>
          <p:cNvPr name="AutoShape 19" id="19"/>
          <p:cNvSpPr/>
          <p:nvPr/>
        </p:nvSpPr>
        <p:spPr>
          <a:xfrm rot="0" flipH="false" flipV="false">
            <a:off x="6604000" y="4064000"/>
            <a:ext cx="4572000" cy="698500"/>
          </a:xfrm>
          <a:prstGeom prst="roundRect">
            <a:avLst>
              <a:gd name="adj" fmla="val 0"/>
            </a:avLst>
          </a:prstGeom>
          <a:solidFill>
            <a:srgbClr val="FFFFFF">
              <a:alpha val="100000"/>
            </a:srgbClr>
          </a:solidFill>
          <a:ln w="12700" cmpd="sng" cap="flat">
            <a:solidFill>
              <a:srgbClr val="C8C8C8">
                <a:alpha val="100000"/>
              </a:srgbClr>
            </a:solidFill>
            <a:prstDash val="solid"/>
            <a:round/>
          </a:ln>
        </p:spPr>
        <p:txBody>
          <a:bodyPr anchor="ctr" rtlCol="false" vert="horz" wrap="square" lIns="63500" rIns="63500" tIns="63500" bIns="63500"/>
          <a:lstStyle/>
          <a:p>
            <a:pPr algn="ctr">
              <a:defRPr/>
            </a:pPr>
            <a:endParaRPr/>
          </a:p>
        </p:txBody>
      </p:sp>
      <p:sp>
        <p:nvSpPr>
          <p:cNvPr name="AutoShape 20" id="20"/>
          <p:cNvSpPr/>
          <p:nvPr/>
        </p:nvSpPr>
        <p:spPr>
          <a:xfrm rot="0" flipH="false" flipV="false">
            <a:off x="6794500" y="40640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400">
                <a:solidFill>
                  <a:srgbClr val="64646E"/>
                </a:solidFill>
                <a:latin typeface="Noto Sans SC"/>
                <a:ea typeface="Noto Sans SC"/>
                <a:cs typeface="Noto Sans SC"/>
                <a:sym typeface="Noto Sans SC"/>
              </a:rPr>
              <a:t>"什么档次跟我用一样的"</a:t>
            </a:r>
            <a:endParaRPr lang="en-US" sz="1100"/>
          </a:p>
        </p:txBody>
      </p:sp>
      <p:sp>
        <p:nvSpPr>
          <p:cNvPr name="AutoShape 21" id="21"/>
          <p:cNvSpPr/>
          <p:nvPr/>
        </p:nvSpPr>
        <p:spPr>
          <a:xfrm rot="0" flipH="false" flipV="false">
            <a:off x="6604000" y="4889500"/>
            <a:ext cx="4572000" cy="698500"/>
          </a:xfrm>
          <a:prstGeom prst="roundRect">
            <a:avLst>
              <a:gd name="adj" fmla="val 0"/>
            </a:avLst>
          </a:prstGeom>
          <a:solidFill>
            <a:srgbClr val="192346">
              <a:alpha val="100000"/>
            </a:srgbClr>
          </a:solidFill>
          <a:ln w="25400" cmpd="sng" cap="flat">
            <a:noFill/>
            <a:prstDash val="solid"/>
            <a:round/>
          </a:ln>
        </p:spPr>
        <p:txBody>
          <a:bodyPr anchor="ctr" rtlCol="false" vert="horz" wrap="square" lIns="63500" rIns="63500" tIns="63500" bIns="63500"/>
          <a:lstStyle/>
          <a:p>
            <a:pPr algn="ctr">
              <a:defRPr/>
            </a:pPr>
            <a:endParaRPr/>
          </a:p>
        </p:txBody>
      </p:sp>
      <p:sp>
        <p:nvSpPr>
          <p:cNvPr name="AutoShape 22" id="22"/>
          <p:cNvSpPr/>
          <p:nvPr/>
        </p:nvSpPr>
        <p:spPr>
          <a:xfrm rot="0" flipH="false" flipV="false">
            <a:off x="6794500" y="4889500"/>
            <a:ext cx="4191000" cy="6985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1500">
                <a:solidFill>
                  <a:srgbClr val="FFFFFF"/>
                </a:solidFill>
                <a:latin typeface="Noto Sans SC"/>
                <a:ea typeface="Noto Sans SC"/>
                <a:cs typeface="Noto Sans SC"/>
                <a:sym typeface="Noto Sans SC"/>
              </a:rPr>
              <a:t>"bro really thinks he's the main character"</a:t>
            </a:r>
            <a:endParaRPr lang="en-US" sz="1100"/>
          </a:p>
        </p:txBody>
      </p:sp>
      <p:sp>
        <p:nvSpPr>
          <p:cNvPr name="AutoShape 23" id="23"/>
          <p:cNvSpPr/>
          <p:nvPr/>
        </p:nvSpPr>
        <p:spPr>
          <a:xfrm rot="0" flipH="false" flipV="false">
            <a:off x="1016000" y="59690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96"/>
                </a:solidFill>
                <a:latin typeface="Noto Sans SC"/>
                <a:ea typeface="Noto Sans SC"/>
                <a:cs typeface="Noto Sans SC"/>
                <a:sym typeface="Noto Sans SC"/>
              </a:rPr>
              <a:t>CROSS-CULTURAL MEME TRANSLATOR</a:t>
            </a:r>
            <a:endParaRPr lang="en-US" sz="1100"/>
          </a:p>
        </p:txBody>
      </p:sp>
      <p:sp>
        <p:nvSpPr>
          <p:cNvPr name="AutoShape 24" id="24"/>
          <p:cNvSpPr/>
          <p:nvPr/>
        </p:nvSpPr>
        <p:spPr>
          <a:xfrm rot="0" flipH="false" flipV="false">
            <a:off x="9906000" y="59690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96"/>
                </a:solidFill>
                <a:latin typeface="Noto Sans SC"/>
                <a:ea typeface="Noto Sans SC"/>
                <a:cs typeface="Noto Sans SC"/>
                <a:sym typeface="Noto Sans SC"/>
              </a:rPr>
              <a:t>06 / 07</a:t>
            </a:r>
            <a:endParaRPr lang="en-US" sz="1100"/>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192346">
            <a:alpha val="100000"/>
          </a:srgbClr>
        </a:solidFill>
      </p:bgPr>
    </p:bg>
    <p:spTree>
      <p:nvGrpSpPr>
        <p:cNvPr id="1" name=""/>
        <p:cNvGrpSpPr/>
        <p:nvPr/>
      </p:nvGrpSpPr>
      <p:grpSpPr>
        <a:xfrm>
          <a:off x="0" y="0"/>
          <a:ext cx="0" cy="0"/>
          <a:chOff x="0" y="0"/>
          <a:chExt cx="0" cy="0"/>
        </a:xfrm>
      </p:grpSpPr>
      <p:sp>
        <p:nvSpPr>
          <p:cNvPr name="AutoShape 2" id="2"/>
          <p:cNvSpPr/>
          <p:nvPr/>
        </p:nvSpPr>
        <p:spPr>
          <a:xfrm rot="0" flipH="false" flipV="false">
            <a:off x="1016000" y="762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100">
                <a:solidFill>
                  <a:srgbClr val="E66E32"/>
                </a:solidFill>
                <a:latin typeface="Noto Sans SC"/>
                <a:ea typeface="Noto Sans SC"/>
                <a:cs typeface="Noto Sans SC"/>
                <a:sym typeface="Noto Sans SC"/>
              </a:rPr>
              <a:t>THE VISION</a:t>
            </a:r>
            <a:endParaRPr lang="en-US" sz="1100"/>
          </a:p>
        </p:txBody>
      </p:sp>
      <p:cxnSp>
        <p:nvCxnSpPr>
          <p:cNvPr name="Connector 3" id="3"/>
          <p:cNvCxnSpPr/>
          <p:nvPr/>
        </p:nvCxnSpPr>
        <p:spPr>
          <a:xfrm rot="-28647" flipH="false" flipV="false">
            <a:off x="1016026" y="1263650"/>
            <a:ext cx="1524000" cy="12700"/>
          </a:xfrm>
          <a:prstGeom prst="straightConnector1">
            <a:avLst/>
          </a:prstGeom>
          <a:solidFill>
            <a:srgbClr val="DEE0E3">
              <a:alpha val="100000"/>
            </a:srgbClr>
          </a:solidFill>
          <a:ln w="25400" cmpd="sng" cap="flat">
            <a:solidFill>
              <a:srgbClr val="E66E32">
                <a:alpha val="100000"/>
              </a:srgbClr>
            </a:solidFill>
            <a:prstDash val="solid"/>
            <a:round/>
            <a:headEnd type="none" w="lg" len="lg"/>
            <a:tailEnd type="none" w="lg" len="lg"/>
          </a:ln>
        </p:spPr>
      </p:cxnSp>
      <p:sp>
        <p:nvSpPr>
          <p:cNvPr name="AutoShape 4" id="4"/>
          <p:cNvSpPr/>
          <p:nvPr/>
        </p:nvSpPr>
        <p:spPr>
          <a:xfrm rot="0" flipH="false" flipV="false">
            <a:off x="1016000" y="1778000"/>
            <a:ext cx="10160000" cy="2286000"/>
          </a:xfrm>
          <a:prstGeom prst="rect">
            <a:avLst/>
          </a:prstGeom>
          <a:noFill/>
          <a:ln w="12700" cmpd="sng" cap="flat">
            <a:noFill/>
            <a:prstDash val="solid"/>
            <a:round/>
          </a:ln>
        </p:spPr>
        <p:txBody>
          <a:bodyPr anchor="ctr" rtlCol="false" anchorCtr="false" vert="horz" wrap="square" lIns="0" rIns="0" tIns="0" bIns="0"/>
          <a:lstStyle/>
          <a:p>
            <a:pPr algn="l" marL="0" indent="0">
              <a:lnSpc>
                <a:spcPct val="100000"/>
              </a:lnSpc>
              <a:defRPr/>
            </a:pPr>
            <a:r>
              <a:rPr lang="en-US" b="true" i="false" strike="noStrike" u="none" sz="5200">
                <a:solidFill>
                  <a:srgbClr val="FFFFFF"/>
                </a:solidFill>
                <a:latin typeface="Noto Sans SC"/>
                <a:ea typeface="Noto Sans SC"/>
                <a:cs typeface="Noto Sans SC"/>
                <a:sym typeface="Noto Sans SC"/>
              </a:rPr>
              <a:t>Let Chinese and foreign</a:t>
            </a:r>
            <a:endParaRPr lang="en-US" sz="1100"/>
          </a:p>
          <a:p>
            <a:pPr algn="l" marL="0" indent="0">
              <a:lnSpc>
                <a:spcPct val="100000"/>
              </a:lnSpc>
            </a:pPr>
            <a:r>
              <a:rPr lang="en-US" b="true" i="false" strike="noStrike" u="none" sz="5200">
                <a:solidFill>
                  <a:srgbClr val="FFFFFF"/>
                </a:solidFill>
                <a:latin typeface="Noto Sans SC"/>
                <a:ea typeface="Noto Sans SC"/>
                <a:cs typeface="Noto Sans SC"/>
                <a:sym typeface="Noto Sans SC"/>
              </a:rPr>
              <a:t>netizens finally </a:t>
            </a:r>
            <a:r>
              <a:rPr lang="en-US" b="true" i="false" strike="noStrike" u="none" sz="5200">
                <a:solidFill>
                  <a:srgbClr val="E66E32"/>
                </a:solidFill>
                <a:latin typeface="Noto Sans SC"/>
                <a:ea typeface="Noto Sans SC"/>
                <a:cs typeface="Noto Sans SC"/>
                <a:sym typeface="Noto Sans SC"/>
              </a:rPr>
              <a:t>understand</a:t>
            </a:r>
            <a:r>
              <a:rPr lang="en-US" b="true" i="false" strike="noStrike" u="none" sz="5200">
                <a:solidFill>
                  <a:srgbClr val="FFFFFF"/>
                </a:solidFill>
                <a:latin typeface="Noto Sans SC"/>
                <a:ea typeface="Noto Sans SC"/>
                <a:cs typeface="Noto Sans SC"/>
                <a:sym typeface="Noto Sans SC"/>
              </a:rPr>
              <a:t/>
            </a:r>
          </a:p>
          <a:p>
            <a:pPr algn="l" marL="0" indent="0">
              <a:lnSpc>
                <a:spcPct val="100000"/>
              </a:lnSpc>
            </a:pPr>
            <a:r>
              <a:rPr lang="en-US" b="true" i="false" strike="noStrike" u="none" sz="5200">
                <a:solidFill>
                  <a:srgbClr val="FFFFFF"/>
                </a:solidFill>
                <a:latin typeface="Noto Sans SC"/>
                <a:ea typeface="Noto Sans SC"/>
                <a:cs typeface="Noto Sans SC"/>
                <a:sym typeface="Noto Sans SC"/>
              </a:rPr>
              <a:t>each other's jokes.</a:t>
            </a:r>
          </a:p>
        </p:txBody>
      </p:sp>
      <p:sp>
        <p:nvSpPr>
          <p:cNvPr name="AutoShape 5" id="5"/>
          <p:cNvSpPr/>
          <p:nvPr/>
        </p:nvSpPr>
        <p:spPr>
          <a:xfrm rot="0" flipH="false" flipV="false">
            <a:off x="1016000" y="4445000"/>
            <a:ext cx="7620000" cy="635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800">
                <a:solidFill>
                  <a:srgbClr val="C8C8DC"/>
                </a:solidFill>
                <a:latin typeface="Noto Sans SC"/>
                <a:ea typeface="Noto Sans SC"/>
                <a:cs typeface="Noto Sans SC"/>
                <a:sym typeface="Noto Sans SC"/>
              </a:rPr>
              <a:t>Because fun is the universal language. Not textbooks.</a:t>
            </a:r>
            <a:endParaRPr lang="en-US" sz="1100"/>
          </a:p>
        </p:txBody>
      </p:sp>
      <p:cxnSp>
        <p:nvCxnSpPr>
          <p:cNvPr name="Connector 6" id="6"/>
          <p:cNvCxnSpPr/>
          <p:nvPr/>
        </p:nvCxnSpPr>
        <p:spPr>
          <a:xfrm rot="-4297" flipH="false" flipV="false">
            <a:off x="1016004" y="5454650"/>
            <a:ext cx="10160000" cy="12700"/>
          </a:xfrm>
          <a:prstGeom prst="straightConnector1">
            <a:avLst/>
          </a:prstGeom>
          <a:solidFill>
            <a:srgbClr val="DEE0E3">
              <a:alpha val="100000"/>
            </a:srgbClr>
          </a:solidFill>
          <a:ln w="12700" cmpd="sng" cap="flat">
            <a:solidFill>
              <a:srgbClr val="50506E">
                <a:alpha val="100000"/>
              </a:srgbClr>
            </a:solidFill>
            <a:prstDash val="solid"/>
            <a:round/>
            <a:headEnd type="none" w="med" len="med"/>
            <a:tailEnd type="none" w="med" len="med"/>
          </a:ln>
        </p:spPr>
      </p:cxnSp>
      <p:sp>
        <p:nvSpPr>
          <p:cNvPr name="AutoShape 7" id="7"/>
          <p:cNvSpPr/>
          <p:nvPr/>
        </p:nvSpPr>
        <p:spPr>
          <a:xfrm rot="0" flipH="false" flipV="false">
            <a:off x="1016000" y="5715000"/>
            <a:ext cx="5080000" cy="381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true" i="false" strike="noStrike" u="none" sz="2000">
                <a:solidFill>
                  <a:srgbClr val="FFFFFF"/>
                </a:solidFill>
                <a:latin typeface="Noto Sans SC"/>
                <a:ea typeface="Noto Sans SC"/>
                <a:cs typeface="Noto Sans SC"/>
                <a:sym typeface="Noto Sans SC"/>
              </a:rPr>
              <a:t>Thank you.</a:t>
            </a:r>
            <a:endParaRPr lang="en-US" sz="1100"/>
          </a:p>
        </p:txBody>
      </p:sp>
      <p:sp>
        <p:nvSpPr>
          <p:cNvPr name="AutoShape 8" id="8"/>
          <p:cNvSpPr/>
          <p:nvPr/>
        </p:nvSpPr>
        <p:spPr>
          <a:xfrm rot="0" flipH="false" flipV="false">
            <a:off x="1016000" y="6159500"/>
            <a:ext cx="5080000" cy="254000"/>
          </a:xfrm>
          <a:prstGeom prst="rect">
            <a:avLst/>
          </a:prstGeom>
          <a:noFill/>
          <a:ln w="12700" cmpd="sng" cap="flat">
            <a:noFill/>
            <a:prstDash val="solid"/>
            <a:round/>
          </a:ln>
        </p:spPr>
        <p:txBody>
          <a:bodyPr anchor="ctr" rtlCol="false" anchorCtr="false" vert="horz" wrap="square" lIns="0" rIns="0" tIns="0" bIns="0"/>
          <a:lstStyle/>
          <a:p>
            <a:pPr algn="l" marL="0" indent="0">
              <a:lnSpc>
                <a:spcPct val="125000"/>
              </a:lnSpc>
              <a:defRPr/>
            </a:pPr>
            <a:r>
              <a:rPr lang="en-US" b="false" i="false" strike="noStrike" u="none" sz="1000">
                <a:solidFill>
                  <a:srgbClr val="9696AA"/>
                </a:solidFill>
                <a:latin typeface="Noto Sans SC"/>
                <a:ea typeface="Noto Sans SC"/>
                <a:cs typeface="Noto Sans SC"/>
                <a:sym typeface="Noto Sans SC"/>
              </a:rPr>
              <a:t>CROSS-CULTURAL MEME TRANSLATOR</a:t>
            </a:r>
            <a:endParaRPr lang="en-US" sz="1100"/>
          </a:p>
        </p:txBody>
      </p:sp>
      <p:sp>
        <p:nvSpPr>
          <p:cNvPr name="AutoShape 9" id="9"/>
          <p:cNvSpPr/>
          <p:nvPr/>
        </p:nvSpPr>
        <p:spPr>
          <a:xfrm rot="0" flipH="false" flipV="false">
            <a:off x="9906000" y="6159500"/>
            <a:ext cx="1270000" cy="254000"/>
          </a:xfrm>
          <a:prstGeom prst="rect">
            <a:avLst/>
          </a:prstGeom>
          <a:noFill/>
          <a:ln w="12700" cmpd="sng" cap="flat">
            <a:noFill/>
            <a:prstDash val="solid"/>
            <a:round/>
          </a:ln>
        </p:spPr>
        <p:txBody>
          <a:bodyPr anchor="ctr" rtlCol="false" anchorCtr="false" vert="horz" wrap="square" lIns="0" rIns="0" tIns="0" bIns="0"/>
          <a:lstStyle/>
          <a:p>
            <a:pPr algn="r" marL="0" indent="0">
              <a:lnSpc>
                <a:spcPct val="125000"/>
              </a:lnSpc>
              <a:defRPr/>
            </a:pPr>
            <a:r>
              <a:rPr lang="en-US" b="false" i="false" strike="noStrike" u="none" sz="1000">
                <a:solidFill>
                  <a:srgbClr val="9696AA"/>
                </a:solidFill>
                <a:latin typeface="Noto Sans SC"/>
                <a:ea typeface="Noto Sans SC"/>
                <a:cs typeface="Noto Sans SC"/>
                <a:sym typeface="Noto Sans SC"/>
              </a:rPr>
              <a:t>07 / 07</a:t>
            </a:r>
            <a:endParaRPr lang="en-US" sz="1100"/>
          </a:p>
        </p:txBody>
      </p:sp>
      <p:pic>
        <p:nvPicPr>
          <p:cNvPr name="Picture 10" id="10"/>
          <p:cNvPicPr>
            <a:picLocks noChangeAspect="true"/>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{"Label":"1","ContentProducer":"001191110102MACQD9K64010000","ProduceID":"7683915576549608377","ReservedCode1":"","ContentPropagator":"","PropagateID":"","ReservedCode2":""}</vt:lpwstr>
  </property>
</Properties>
</file>